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77" r:id="rId2"/>
    <p:sldId id="268" r:id="rId3"/>
    <p:sldId id="257" r:id="rId4"/>
    <p:sldId id="276" r:id="rId5"/>
    <p:sldId id="269" r:id="rId6"/>
    <p:sldId id="280" r:id="rId7"/>
    <p:sldId id="266" r:id="rId8"/>
    <p:sldId id="258" r:id="rId9"/>
    <p:sldId id="278" r:id="rId10"/>
    <p:sldId id="279" r:id="rId11"/>
    <p:sldId id="259" r:id="rId12"/>
    <p:sldId id="272" r:id="rId13"/>
    <p:sldId id="273" r:id="rId14"/>
    <p:sldId id="274" r:id="rId15"/>
    <p:sldId id="260"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1" d="100"/>
          <a:sy n="91" d="100"/>
        </p:scale>
        <p:origin x="37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11/3/2025</a:t>
            </a:fld>
            <a:endParaRPr lang="en-US" dirty="0"/>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pPr/>
              <a:t>‹#›</a:t>
            </a:fld>
            <a:endParaRPr lang="en-US" dirty="0"/>
          </a:p>
        </p:txBody>
      </p:sp>
    </p:spTree>
    <p:extLst>
      <p:ext uri="{BB962C8B-B14F-4D97-AF65-F5344CB8AC3E}">
        <p14:creationId xmlns:p14="http://schemas.microsoft.com/office/powerpoint/2010/main" val="1390714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5822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916354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45775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67733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404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4378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48167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33056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71731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pPr/>
              <a:t>11/3/2025</a:t>
            </a:fld>
            <a:endParaRPr lang="en-US" dirty="0"/>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pPr/>
              <a:t>‹#›</a:t>
            </a:fld>
            <a:endParaRPr lang="en-US" dirty="0"/>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195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11/3/2025</a:t>
            </a:fld>
            <a:endParaRPr lang="en-US" dirty="0"/>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dirty="0"/>
          </a:p>
        </p:txBody>
      </p:sp>
    </p:spTree>
    <p:extLst>
      <p:ext uri="{BB962C8B-B14F-4D97-AF65-F5344CB8AC3E}">
        <p14:creationId xmlns:p14="http://schemas.microsoft.com/office/powerpoint/2010/main" val="494033253"/>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tutorialspoint.com/tutorial_view.htm?cid=flask&amp;pid" TargetMode="External"/><Relationship Id="rId2" Type="http://schemas.openxmlformats.org/officeDocument/2006/relationships/hyperlink" Target="https://scikit-learn.org/stable/modules/svm.html" TargetMode="External"/><Relationship Id="rId1" Type="http://schemas.openxmlformats.org/officeDocument/2006/relationships/slideLayout" Target="../slideLayouts/slideLayout7.xml"/><Relationship Id="rId6" Type="http://schemas.openxmlformats.org/officeDocument/2006/relationships/hyperlink" Target="https://towardsdatascience.com/cnn-based-face-detector-from-dlib-c3696195e01c" TargetMode="External"/><Relationship Id="rId5" Type="http://schemas.openxmlformats.org/officeDocument/2006/relationships/hyperlink" Target="https://www.w3schools.com/js/" TargetMode="External"/><Relationship Id="rId4" Type="http://schemas.openxmlformats.org/officeDocument/2006/relationships/hyperlink" Target="https://www.w3schools.com/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765E4C1-8B1D-1C83-73A6-0DAB945F7F2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2"/>
            <a:ext cx="12192000" cy="1449975"/>
          </a:xfrm>
        </p:spPr>
      </p:pic>
      <p:sp>
        <p:nvSpPr>
          <p:cNvPr id="5" name="Title 1">
            <a:extLst>
              <a:ext uri="{FF2B5EF4-FFF2-40B4-BE49-F238E27FC236}">
                <a16:creationId xmlns:a16="http://schemas.microsoft.com/office/drawing/2014/main" id="{B3AF4E8B-07CD-B0B3-57E5-5C4246082706}"/>
              </a:ext>
            </a:extLst>
          </p:cNvPr>
          <p:cNvSpPr txBox="1">
            <a:spLocks/>
          </p:cNvSpPr>
          <p:nvPr/>
        </p:nvSpPr>
        <p:spPr>
          <a:xfrm>
            <a:off x="561864" y="2269661"/>
            <a:ext cx="10512536" cy="3220303"/>
          </a:xfrm>
          <a:prstGeom prst="rect">
            <a:avLst/>
          </a:prstGeom>
        </p:spPr>
        <p:txBody>
          <a:bodyPr vert="horz" lIns="91440" tIns="45720" rIns="91440" bIns="45720" rtlCol="0" anchor="t">
            <a:normAutofit fontScale="97500"/>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algn="ctr"/>
            <a:br>
              <a:rPr lang="en-US" dirty="0"/>
            </a:br>
            <a:r>
              <a:rPr lang="en-US" dirty="0"/>
              <a:t>Smart College</a:t>
            </a:r>
            <a:br>
              <a:rPr lang="en-US" dirty="0"/>
            </a:br>
            <a:br>
              <a:rPr lang="en-US" dirty="0"/>
            </a:br>
            <a:r>
              <a:rPr lang="en-US" dirty="0"/>
              <a:t>				</a:t>
            </a:r>
          </a:p>
        </p:txBody>
      </p:sp>
      <p:sp>
        <p:nvSpPr>
          <p:cNvPr id="7" name="Subtitle 2">
            <a:extLst>
              <a:ext uri="{FF2B5EF4-FFF2-40B4-BE49-F238E27FC236}">
                <a16:creationId xmlns:a16="http://schemas.microsoft.com/office/drawing/2014/main" id="{D89307E4-0632-D88D-BBC0-7149C9C956A8}"/>
              </a:ext>
            </a:extLst>
          </p:cNvPr>
          <p:cNvSpPr txBox="1">
            <a:spLocks/>
          </p:cNvSpPr>
          <p:nvPr/>
        </p:nvSpPr>
        <p:spPr>
          <a:xfrm>
            <a:off x="2416629" y="1436914"/>
            <a:ext cx="7406639" cy="51344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buNone/>
            </a:pPr>
            <a:r>
              <a:rPr lang="en-US" sz="4400" b="1" dirty="0">
                <a:solidFill>
                  <a:schemeClr val="bg1"/>
                </a:solidFill>
              </a:rPr>
              <a:t>SMART COLLEGE</a:t>
            </a:r>
          </a:p>
          <a:p>
            <a:pPr algn="ctr">
              <a:lnSpc>
                <a:spcPct val="120000"/>
              </a:lnSpc>
              <a:buNone/>
            </a:pPr>
            <a:r>
              <a:rPr lang="en-US" sz="2800" dirty="0">
                <a:solidFill>
                  <a:schemeClr val="bg1"/>
                </a:solidFill>
              </a:rPr>
              <a:t>MIRYALA PRANATHI</a:t>
            </a:r>
          </a:p>
          <a:p>
            <a:pPr algn="ctr">
              <a:lnSpc>
                <a:spcPct val="120000"/>
              </a:lnSpc>
              <a:buNone/>
            </a:pPr>
            <a:r>
              <a:rPr lang="en-US" sz="2800" dirty="0">
                <a:solidFill>
                  <a:schemeClr val="bg1"/>
                </a:solidFill>
              </a:rPr>
              <a:t>23UP1A05F5</a:t>
            </a:r>
          </a:p>
          <a:p>
            <a:pPr algn="ctr">
              <a:lnSpc>
                <a:spcPct val="120000"/>
              </a:lnSpc>
              <a:buNone/>
            </a:pPr>
            <a:r>
              <a:rPr lang="en-US" sz="2800" dirty="0">
                <a:solidFill>
                  <a:schemeClr val="bg1"/>
                </a:solidFill>
              </a:rPr>
              <a:t>CSE-C 2</a:t>
            </a:r>
            <a:r>
              <a:rPr lang="en-US" sz="2800" baseline="30000" dirty="0">
                <a:solidFill>
                  <a:schemeClr val="bg1"/>
                </a:solidFill>
              </a:rPr>
              <a:t>ND</a:t>
            </a:r>
            <a:r>
              <a:rPr lang="en-US" sz="2800" dirty="0">
                <a:solidFill>
                  <a:schemeClr val="bg1"/>
                </a:solidFill>
              </a:rPr>
              <a:t> YEAR</a:t>
            </a:r>
          </a:p>
          <a:p>
            <a:pPr algn="ctr">
              <a:lnSpc>
                <a:spcPct val="120000"/>
              </a:lnSpc>
              <a:buNone/>
            </a:pPr>
            <a:r>
              <a:rPr lang="en-US" sz="2800" dirty="0">
                <a:solidFill>
                  <a:schemeClr val="bg1"/>
                </a:solidFill>
              </a:rPr>
              <a:t>Under the Guidance of</a:t>
            </a:r>
          </a:p>
          <a:p>
            <a:pPr algn="ctr">
              <a:lnSpc>
                <a:spcPct val="120000"/>
              </a:lnSpc>
              <a:buNone/>
            </a:pPr>
            <a:r>
              <a:rPr lang="en-US" sz="2800" dirty="0">
                <a:solidFill>
                  <a:schemeClr val="bg1"/>
                </a:solidFill>
              </a:rPr>
              <a:t>Mrs. B. </a:t>
            </a:r>
            <a:r>
              <a:rPr lang="en-US" sz="2800" dirty="0" err="1">
                <a:solidFill>
                  <a:schemeClr val="bg1"/>
                </a:solidFill>
              </a:rPr>
              <a:t>Ramyasri</a:t>
            </a:r>
            <a:endParaRPr lang="en-US" sz="2800" dirty="0">
              <a:solidFill>
                <a:schemeClr val="bg1"/>
              </a:solidFill>
            </a:endParaRPr>
          </a:p>
          <a:p>
            <a:pPr algn="ctr">
              <a:lnSpc>
                <a:spcPct val="120000"/>
              </a:lnSpc>
              <a:buNone/>
            </a:pPr>
            <a:r>
              <a:rPr lang="en-US" sz="2800" dirty="0">
                <a:solidFill>
                  <a:schemeClr val="bg1"/>
                </a:solidFill>
              </a:rPr>
              <a:t>Assistant Professor</a:t>
            </a:r>
          </a:p>
          <a:p>
            <a:pPr algn="ctr">
              <a:lnSpc>
                <a:spcPct val="120000"/>
              </a:lnSpc>
              <a:buNone/>
            </a:pPr>
            <a:r>
              <a:rPr lang="en-US" sz="2800" dirty="0">
                <a:solidFill>
                  <a:schemeClr val="bg1"/>
                </a:solidFill>
              </a:rPr>
              <a:t>Department of Computer Science and Engineering</a:t>
            </a:r>
          </a:p>
          <a:p>
            <a:pPr algn="ctr">
              <a:lnSpc>
                <a:spcPct val="120000"/>
              </a:lnSpc>
              <a:buNone/>
            </a:pPr>
            <a:endParaRPr lang="en-US" sz="3200" dirty="0">
              <a:solidFill>
                <a:schemeClr val="bg1"/>
              </a:solidFill>
            </a:endParaRPr>
          </a:p>
          <a:p>
            <a:pPr algn="ctr">
              <a:lnSpc>
                <a:spcPct val="120000"/>
              </a:lnSpc>
              <a:buNone/>
            </a:pPr>
            <a:endParaRPr lang="en-US" sz="2800" dirty="0">
              <a:solidFill>
                <a:schemeClr val="bg1"/>
              </a:solidFill>
            </a:endParaRPr>
          </a:p>
        </p:txBody>
      </p:sp>
    </p:spTree>
    <p:extLst>
      <p:ext uri="{BB962C8B-B14F-4D97-AF65-F5344CB8AC3E}">
        <p14:creationId xmlns:p14="http://schemas.microsoft.com/office/powerpoint/2010/main" val="697393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79500"/>
          </a:xfrm>
        </p:spPr>
        <p:txBody>
          <a:bodyPr/>
          <a:lstStyle/>
          <a:p>
            <a:pPr algn="ctr"/>
            <a:r>
              <a:rPr lang="en-US" dirty="0">
                <a:solidFill>
                  <a:schemeClr val="bg1"/>
                </a:solidFill>
              </a:rPr>
              <a:t>INDEX</a:t>
            </a:r>
          </a:p>
        </p:txBody>
      </p:sp>
      <p:sp>
        <p:nvSpPr>
          <p:cNvPr id="3" name="Content Placeholder 2"/>
          <p:cNvSpPr>
            <a:spLocks noGrp="1"/>
          </p:cNvSpPr>
          <p:nvPr>
            <p:ph idx="1"/>
          </p:nvPr>
        </p:nvSpPr>
        <p:spPr>
          <a:xfrm>
            <a:off x="1561585" y="723900"/>
            <a:ext cx="9486690" cy="4683000"/>
          </a:xfrm>
        </p:spPr>
        <p:txBody>
          <a:bodyPr>
            <a:noAutofit/>
          </a:bodyPr>
          <a:lstStyle/>
          <a:p>
            <a:r>
              <a:rPr lang="en-US" sz="2400" dirty="0">
                <a:solidFill>
                  <a:schemeClr val="bg1"/>
                </a:solidFill>
              </a:rPr>
              <a:t>Abstract </a:t>
            </a:r>
          </a:p>
          <a:p>
            <a:r>
              <a:rPr lang="en-US" sz="2400" dirty="0">
                <a:solidFill>
                  <a:schemeClr val="bg1"/>
                </a:solidFill>
              </a:rPr>
              <a:t>Introduction </a:t>
            </a:r>
          </a:p>
          <a:p>
            <a:r>
              <a:rPr lang="en-US" sz="2400" dirty="0">
                <a:solidFill>
                  <a:schemeClr val="bg1"/>
                </a:solidFill>
              </a:rPr>
              <a:t>Literature review </a:t>
            </a:r>
          </a:p>
          <a:p>
            <a:r>
              <a:rPr lang="en-US" sz="2400" dirty="0">
                <a:solidFill>
                  <a:schemeClr val="bg1"/>
                </a:solidFill>
              </a:rPr>
              <a:t>Proposed system                                  </a:t>
            </a:r>
          </a:p>
          <a:p>
            <a:r>
              <a:rPr lang="en-US" sz="2400" dirty="0">
                <a:solidFill>
                  <a:schemeClr val="bg1"/>
                </a:solidFill>
              </a:rPr>
              <a:t>Methodology </a:t>
            </a:r>
          </a:p>
          <a:p>
            <a:r>
              <a:rPr lang="en-US" sz="2400" dirty="0">
                <a:solidFill>
                  <a:schemeClr val="bg1"/>
                </a:solidFill>
              </a:rPr>
              <a:t>System Architecture and </a:t>
            </a:r>
          </a:p>
          <a:p>
            <a:r>
              <a:rPr lang="en-US" sz="2400" dirty="0">
                <a:solidFill>
                  <a:schemeClr val="bg1"/>
                </a:solidFill>
              </a:rPr>
              <a:t>use case diagrams</a:t>
            </a:r>
          </a:p>
          <a:p>
            <a:r>
              <a:rPr lang="en-US" sz="2400" dirty="0">
                <a:solidFill>
                  <a:schemeClr val="bg1"/>
                </a:solidFill>
              </a:rPr>
              <a:t>System </a:t>
            </a:r>
            <a:r>
              <a:rPr lang="en-US" sz="2400" dirty="0" err="1">
                <a:solidFill>
                  <a:schemeClr val="bg1"/>
                </a:solidFill>
              </a:rPr>
              <a:t>Requriments</a:t>
            </a:r>
            <a:r>
              <a:rPr lang="en-US" sz="2400" dirty="0">
                <a:solidFill>
                  <a:schemeClr val="bg1"/>
                </a:solidFill>
              </a:rPr>
              <a:t> </a:t>
            </a:r>
          </a:p>
          <a:p>
            <a:r>
              <a:rPr lang="en-US" sz="2400" dirty="0">
                <a:solidFill>
                  <a:schemeClr val="bg1"/>
                </a:solidFill>
              </a:rPr>
              <a:t>Advantages and </a:t>
            </a:r>
            <a:r>
              <a:rPr lang="en-US" sz="2400" dirty="0" err="1">
                <a:solidFill>
                  <a:schemeClr val="bg1"/>
                </a:solidFill>
              </a:rPr>
              <a:t>Disavantages</a:t>
            </a:r>
            <a:r>
              <a:rPr lang="en-US" sz="2400" dirty="0">
                <a:solidFill>
                  <a:schemeClr val="bg1"/>
                </a:solidFill>
              </a:rPr>
              <a:t> </a:t>
            </a:r>
          </a:p>
          <a:p>
            <a:r>
              <a:rPr lang="en-US" sz="2400" dirty="0">
                <a:solidFill>
                  <a:schemeClr val="bg1"/>
                </a:solidFill>
              </a:rPr>
              <a:t>Conclusion </a:t>
            </a:r>
          </a:p>
          <a:p>
            <a:r>
              <a:rPr lang="en-US" sz="2400" dirty="0">
                <a:solidFill>
                  <a:schemeClr val="bg1"/>
                </a:solidFill>
              </a:rPr>
              <a:t>Reference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FCEE6-8D9C-45CA-8C5A-6682E2093841}"/>
              </a:ext>
            </a:extLst>
          </p:cNvPr>
          <p:cNvSpPr>
            <a:spLocks noGrp="1"/>
          </p:cNvSpPr>
          <p:nvPr>
            <p:ph type="title"/>
          </p:nvPr>
        </p:nvSpPr>
        <p:spPr>
          <a:xfrm>
            <a:off x="0" y="455363"/>
            <a:ext cx="12192000" cy="1084680"/>
          </a:xfrm>
        </p:spPr>
        <p:txBody>
          <a:bodyPr/>
          <a:lstStyle/>
          <a:p>
            <a:pPr algn="ctr"/>
            <a:r>
              <a:rPr lang="en-US" dirty="0">
                <a:solidFill>
                  <a:schemeClr val="bg1"/>
                </a:solidFill>
              </a:rPr>
              <a:t>Abstract</a:t>
            </a:r>
          </a:p>
        </p:txBody>
      </p:sp>
      <p:sp>
        <p:nvSpPr>
          <p:cNvPr id="3" name="Content Placeholder 2">
            <a:extLst>
              <a:ext uri="{FF2B5EF4-FFF2-40B4-BE49-F238E27FC236}">
                <a16:creationId xmlns:a16="http://schemas.microsoft.com/office/drawing/2014/main" id="{AA91EE20-4282-492E-A7F9-947290FD5C73}"/>
              </a:ext>
            </a:extLst>
          </p:cNvPr>
          <p:cNvSpPr>
            <a:spLocks noGrp="1"/>
          </p:cNvSpPr>
          <p:nvPr>
            <p:ph idx="1"/>
          </p:nvPr>
        </p:nvSpPr>
        <p:spPr>
          <a:xfrm>
            <a:off x="1045029" y="1658679"/>
            <a:ext cx="10136778" cy="4427489"/>
          </a:xfrm>
        </p:spPr>
        <p:txBody>
          <a:bodyPr>
            <a:normAutofit/>
          </a:bodyPr>
          <a:lstStyle/>
          <a:p>
            <a:pPr marL="0" indent="0" algn="just">
              <a:buNone/>
            </a:pPr>
            <a:r>
              <a:rPr lang="en-US" sz="2400" dirty="0">
                <a:solidFill>
                  <a:schemeClr val="bg1"/>
                </a:solidFill>
              </a:rPr>
              <a:t>Concept of smart college can one be of the emerging trend in ML in coming up years where the thought of ‘Smart Campus, Secure Campus’ may become the new mantra. Our project focus on helping the management for taking  quick attendance and it also help teachers to predict which student can be able to get a placement or not. This project is also helpful in knowing about the college for newly joined students  through an interactive chat </a:t>
            </a:r>
            <a:r>
              <a:rPr lang="en-US" sz="2400" dirty="0" err="1">
                <a:solidFill>
                  <a:schemeClr val="bg1"/>
                </a:solidFill>
              </a:rPr>
              <a:t>bot</a:t>
            </a:r>
            <a:r>
              <a:rPr lang="en-US" sz="2400" dirty="0">
                <a:solidFill>
                  <a:schemeClr val="bg1"/>
                </a:solidFill>
              </a:rPr>
              <a:t> .Furthermore, the project will present and discuss an idea about smart college using the concepts of Machine Learning.</a:t>
            </a:r>
          </a:p>
        </p:txBody>
      </p:sp>
    </p:spTree>
    <p:extLst>
      <p:ext uri="{BB962C8B-B14F-4D97-AF65-F5344CB8AC3E}">
        <p14:creationId xmlns:p14="http://schemas.microsoft.com/office/powerpoint/2010/main" val="2763637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455362"/>
            <a:ext cx="12192000" cy="1550419"/>
          </a:xfrm>
        </p:spPr>
        <p:txBody>
          <a:bodyPr/>
          <a:lstStyle/>
          <a:p>
            <a:pPr algn="ctr"/>
            <a:r>
              <a:rPr lang="en-US" dirty="0">
                <a:solidFill>
                  <a:schemeClr val="bg2"/>
                </a:solidFill>
              </a:rPr>
              <a:t>Introduction</a:t>
            </a:r>
          </a:p>
        </p:txBody>
      </p:sp>
      <p:sp>
        <p:nvSpPr>
          <p:cNvPr id="5" name="Content Placeholder 4"/>
          <p:cNvSpPr>
            <a:spLocks noGrp="1"/>
          </p:cNvSpPr>
          <p:nvPr>
            <p:ph idx="1"/>
          </p:nvPr>
        </p:nvSpPr>
        <p:spPr>
          <a:xfrm>
            <a:off x="1149531" y="1554480"/>
            <a:ext cx="9924869" cy="4531688"/>
          </a:xfrm>
        </p:spPr>
        <p:txBody>
          <a:bodyPr>
            <a:normAutofit/>
          </a:bodyPr>
          <a:lstStyle/>
          <a:p>
            <a:pPr algn="just">
              <a:buNone/>
            </a:pPr>
            <a:r>
              <a:rPr lang="en-US" sz="2400" dirty="0">
                <a:solidFill>
                  <a:schemeClr val="bg2"/>
                </a:solidFill>
              </a:rPr>
              <a:t>  Smart College is a web application which we have developed to provide a platform to students who are lacking the interaction with the other students and adapting to the college environment needed at present and are willing to adapt those skills. Our projects help them to learn about their standards using placement prediction module.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0" y="274320"/>
            <a:ext cx="12192000" cy="1276099"/>
          </a:xfrm>
        </p:spPr>
        <p:txBody>
          <a:bodyPr/>
          <a:lstStyle/>
          <a:p>
            <a:pPr algn="ctr"/>
            <a:r>
              <a:rPr lang="en-US" dirty="0">
                <a:solidFill>
                  <a:schemeClr val="bg1"/>
                </a:solidFill>
              </a:rPr>
              <a:t>Literature review</a:t>
            </a:r>
          </a:p>
        </p:txBody>
      </p:sp>
      <p:sp>
        <p:nvSpPr>
          <p:cNvPr id="4" name="Rectangle 3"/>
          <p:cNvSpPr/>
          <p:nvPr/>
        </p:nvSpPr>
        <p:spPr>
          <a:xfrm>
            <a:off x="888275" y="1443842"/>
            <a:ext cx="10450285" cy="4893647"/>
          </a:xfrm>
          <a:prstGeom prst="rect">
            <a:avLst/>
          </a:prstGeom>
        </p:spPr>
        <p:txBody>
          <a:bodyPr wrap="square">
            <a:spAutoFit/>
          </a:bodyPr>
          <a:lstStyle/>
          <a:p>
            <a:pPr algn="just"/>
            <a:r>
              <a:rPr lang="en-US" sz="2400" dirty="0">
                <a:solidFill>
                  <a:schemeClr val="bg1"/>
                </a:solidFill>
              </a:rPr>
              <a:t> </a:t>
            </a:r>
            <a:r>
              <a:rPr lang="en-US" sz="2400" dirty="0" err="1">
                <a:solidFill>
                  <a:schemeClr val="bg1"/>
                </a:solidFill>
              </a:rPr>
              <a:t>Fuzail</a:t>
            </a:r>
            <a:r>
              <a:rPr lang="en-US" sz="2400" dirty="0">
                <a:solidFill>
                  <a:schemeClr val="bg1"/>
                </a:solidFill>
              </a:rPr>
              <a:t>, Muhammad &amp; </a:t>
            </a:r>
            <a:r>
              <a:rPr lang="en-US" sz="2400" dirty="0" err="1">
                <a:solidFill>
                  <a:schemeClr val="bg1"/>
                </a:solidFill>
              </a:rPr>
              <a:t>Noman</a:t>
            </a:r>
            <a:r>
              <a:rPr lang="en-US" sz="2400" dirty="0">
                <a:solidFill>
                  <a:schemeClr val="bg1"/>
                </a:solidFill>
              </a:rPr>
              <a:t>, </a:t>
            </a:r>
            <a:r>
              <a:rPr lang="en-US" sz="2400" dirty="0" err="1">
                <a:solidFill>
                  <a:schemeClr val="bg1"/>
                </a:solidFill>
              </a:rPr>
              <a:t>Fahad</a:t>
            </a:r>
            <a:r>
              <a:rPr lang="en-US" sz="2400" dirty="0">
                <a:solidFill>
                  <a:schemeClr val="bg1"/>
                </a:solidFill>
              </a:rPr>
              <a:t> &amp; </a:t>
            </a:r>
            <a:r>
              <a:rPr lang="en-US" sz="2400" dirty="0" err="1">
                <a:solidFill>
                  <a:schemeClr val="bg1"/>
                </a:solidFill>
              </a:rPr>
              <a:t>Mushtaq</a:t>
            </a:r>
            <a:r>
              <a:rPr lang="en-US" sz="2400" dirty="0">
                <a:solidFill>
                  <a:schemeClr val="bg1"/>
                </a:solidFill>
              </a:rPr>
              <a:t>, Muhammad Omer &amp; </a:t>
            </a:r>
            <a:r>
              <a:rPr lang="en-US" sz="2400" dirty="0" err="1">
                <a:solidFill>
                  <a:schemeClr val="bg1"/>
                </a:solidFill>
              </a:rPr>
              <a:t>Raza</a:t>
            </a:r>
            <a:r>
              <a:rPr lang="en-US" sz="2400" dirty="0">
                <a:solidFill>
                  <a:schemeClr val="bg1"/>
                </a:solidFill>
              </a:rPr>
              <a:t>, </a:t>
            </a:r>
            <a:r>
              <a:rPr lang="en-US" sz="2400" dirty="0" err="1">
                <a:solidFill>
                  <a:schemeClr val="bg1"/>
                </a:solidFill>
              </a:rPr>
              <a:t>Binish</a:t>
            </a:r>
            <a:r>
              <a:rPr lang="en-US" sz="2400" dirty="0">
                <a:solidFill>
                  <a:schemeClr val="bg1"/>
                </a:solidFill>
              </a:rPr>
              <a:t> &amp; </a:t>
            </a:r>
            <a:r>
              <a:rPr lang="en-US" sz="2400" dirty="0" err="1">
                <a:solidFill>
                  <a:schemeClr val="bg1"/>
                </a:solidFill>
              </a:rPr>
              <a:t>Tayyab</a:t>
            </a:r>
            <a:r>
              <a:rPr lang="en-US" sz="2400" dirty="0">
                <a:solidFill>
                  <a:schemeClr val="bg1"/>
                </a:solidFill>
              </a:rPr>
              <a:t>, </a:t>
            </a:r>
            <a:r>
              <a:rPr lang="en-US" sz="2400" dirty="0" err="1">
                <a:solidFill>
                  <a:schemeClr val="bg1"/>
                </a:solidFill>
              </a:rPr>
              <a:t>Awais</a:t>
            </a:r>
            <a:r>
              <a:rPr lang="en-US" sz="2400" dirty="0">
                <a:solidFill>
                  <a:schemeClr val="bg1"/>
                </a:solidFill>
              </a:rPr>
              <a:t> &amp; </a:t>
            </a:r>
            <a:r>
              <a:rPr lang="en-US" sz="2400" dirty="0" err="1">
                <a:solidFill>
                  <a:schemeClr val="bg1"/>
                </a:solidFill>
              </a:rPr>
              <a:t>Talib</a:t>
            </a:r>
            <a:r>
              <a:rPr lang="en-US" sz="2400" dirty="0">
                <a:solidFill>
                  <a:schemeClr val="bg1"/>
                </a:solidFill>
              </a:rPr>
              <a:t>, Muhammad introduce a new approach to automatic attendance management systems, extended with computer vision algorithms. We propose using real-time face detection algorithms integrated into an existing Learning Management System (LMS), which automatically detects and registers students attending a lecture. The system represents a supplemental tool for instructors, combining algorithms used in machine learning with adaptive methods used to track facial changes during a longer period of time. This new system aims to be less time-consuming than traditional methods, at the same time being nonintrusive and not interfering with the regular teaching process. The tool promises to offer accurate results and a more detailed reporting system that shows student activity and attendance in a classroom.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19200"/>
          </a:xfrm>
        </p:spPr>
        <p:txBody>
          <a:bodyPr/>
          <a:lstStyle/>
          <a:p>
            <a:pPr algn="ctr"/>
            <a:r>
              <a:rPr lang="en-US" dirty="0" err="1"/>
              <a:t>p</a:t>
            </a:r>
            <a:r>
              <a:rPr lang="en-US" dirty="0" err="1">
                <a:solidFill>
                  <a:schemeClr val="bg1"/>
                </a:solidFill>
              </a:rPr>
              <a:t>PROPOSED</a:t>
            </a:r>
            <a:r>
              <a:rPr lang="en-US" dirty="0">
                <a:solidFill>
                  <a:schemeClr val="bg1"/>
                </a:solidFill>
              </a:rPr>
              <a:t> SYSTEM</a:t>
            </a:r>
            <a:endParaRPr lang="en-US" dirty="0"/>
          </a:p>
        </p:txBody>
      </p:sp>
      <p:sp>
        <p:nvSpPr>
          <p:cNvPr id="3" name="Rectangle 2"/>
          <p:cNvSpPr/>
          <p:nvPr/>
        </p:nvSpPr>
        <p:spPr>
          <a:xfrm>
            <a:off x="736600" y="1720840"/>
            <a:ext cx="10566400" cy="3785652"/>
          </a:xfrm>
          <a:prstGeom prst="rect">
            <a:avLst/>
          </a:prstGeom>
        </p:spPr>
        <p:txBody>
          <a:bodyPr wrap="square">
            <a:spAutoFit/>
          </a:bodyPr>
          <a:lstStyle/>
          <a:p>
            <a:pPr algn="just"/>
            <a:r>
              <a:rPr lang="en-US" sz="2400" dirty="0">
                <a:solidFill>
                  <a:schemeClr val="bg1"/>
                </a:solidFill>
              </a:rPr>
              <a:t>In the proposed system, we have integrated two distinct operations: the Smart College Operation and the College Social Networking System, creating a cohesive and unified platform. This integration allows scholars to access their academic reports and council events conveniently in one place. The admin plays a crucial role in this operation, possessing full authority to manage and modify pupil's academic details, including additions, updates, and cancellations. Additionally, the Admin oversees the social networking aspect to facilitate seamless communication and student engagement. Furthermore, we have introduced the Library Module, enabling scholars to request library books online for greater convenience and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7" name="Title 6"/>
          <p:cNvSpPr>
            <a:spLocks noGrp="1"/>
          </p:cNvSpPr>
          <p:nvPr>
            <p:ph type="title"/>
          </p:nvPr>
        </p:nvSpPr>
        <p:spPr>
          <a:xfrm>
            <a:off x="0" y="455362"/>
            <a:ext cx="12192000" cy="1550419"/>
          </a:xfrm>
        </p:spPr>
        <p:txBody>
          <a:bodyPr/>
          <a:lstStyle/>
          <a:p>
            <a:pPr algn="ctr"/>
            <a:r>
              <a:rPr lang="en-US" dirty="0">
                <a:solidFill>
                  <a:schemeClr val="bg1"/>
                </a:solidFill>
              </a:rPr>
              <a:t>Methodology</a:t>
            </a:r>
          </a:p>
        </p:txBody>
      </p:sp>
      <p:sp>
        <p:nvSpPr>
          <p:cNvPr id="8" name="Content Placeholder 7"/>
          <p:cNvSpPr>
            <a:spLocks noGrp="1"/>
          </p:cNvSpPr>
          <p:nvPr>
            <p:ph idx="1"/>
          </p:nvPr>
        </p:nvSpPr>
        <p:spPr>
          <a:xfrm>
            <a:off x="1214846" y="1541417"/>
            <a:ext cx="10058400" cy="4544751"/>
          </a:xfrm>
        </p:spPr>
        <p:txBody>
          <a:bodyPr>
            <a:normAutofit/>
          </a:bodyPr>
          <a:lstStyle/>
          <a:p>
            <a:pPr algn="just">
              <a:buNone/>
            </a:pPr>
            <a:r>
              <a:rPr lang="en-US" sz="2800" b="1" dirty="0">
                <a:solidFill>
                  <a:schemeClr val="bg1"/>
                </a:solidFill>
              </a:rPr>
              <a:t>Vision and Planning:</a:t>
            </a:r>
            <a:endParaRPr lang="en-US" sz="2800" dirty="0">
              <a:solidFill>
                <a:schemeClr val="bg1"/>
              </a:solidFill>
            </a:endParaRPr>
          </a:p>
          <a:p>
            <a:pPr algn="just">
              <a:buNone/>
            </a:pPr>
            <a:r>
              <a:rPr lang="en-US" sz="2800" b="1" dirty="0">
                <a:solidFill>
                  <a:schemeClr val="bg1"/>
                </a:solidFill>
              </a:rPr>
              <a:t>Define the Vision and Goals:</a:t>
            </a:r>
            <a:endParaRPr lang="en-US" sz="2800" dirty="0">
              <a:solidFill>
                <a:schemeClr val="bg1"/>
              </a:solidFill>
            </a:endParaRPr>
          </a:p>
          <a:p>
            <a:pPr lvl="1" algn="just"/>
            <a:r>
              <a:rPr lang="en-US" sz="2800" b="1" dirty="0">
                <a:solidFill>
                  <a:schemeClr val="bg1"/>
                </a:solidFill>
              </a:rPr>
              <a:t>Identify Key Stakeholders:</a:t>
            </a:r>
            <a:r>
              <a:rPr lang="en-US" sz="2800" dirty="0">
                <a:solidFill>
                  <a:schemeClr val="bg1"/>
                </a:solidFill>
              </a:rPr>
              <a:t> </a:t>
            </a:r>
            <a:r>
              <a:rPr lang="en-US" sz="2400" dirty="0">
                <a:solidFill>
                  <a:schemeClr val="bg1"/>
                </a:solidFill>
              </a:rPr>
              <a:t>Include students, faculty, administrative staff, IT department, alumni, and potentially industry partners.</a:t>
            </a:r>
          </a:p>
          <a:p>
            <a:pPr lvl="1" algn="just"/>
            <a:r>
              <a:rPr lang="en-US" sz="2800" b="1" dirty="0">
                <a:solidFill>
                  <a:schemeClr val="bg1"/>
                </a:solidFill>
              </a:rPr>
              <a:t>Conduct Needs Assessment:</a:t>
            </a:r>
            <a:r>
              <a:rPr lang="en-US" sz="2400" dirty="0">
                <a:solidFill>
                  <a:schemeClr val="bg1"/>
                </a:solidFill>
              </a:rPr>
              <a:t> Gather input from all stakeholders through surveys, focus groups, and interviews to understand their pain points, needs, and aspirations for a smart college environment.</a:t>
            </a:r>
          </a:p>
          <a:p>
            <a:pPr algn="just"/>
            <a:endParaRPr lang="en-US" sz="2400" dirty="0">
              <a:solidFill>
                <a:schemeClr val="bg1"/>
              </a:solidFill>
            </a:endParaRPr>
          </a:p>
        </p:txBody>
      </p:sp>
    </p:spTree>
    <p:extLst>
      <p:ext uri="{BB962C8B-B14F-4D97-AF65-F5344CB8AC3E}">
        <p14:creationId xmlns:p14="http://schemas.microsoft.com/office/powerpoint/2010/main" val="667464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EBEA-078A-4DF8-8B83-075013CCBCEB}"/>
              </a:ext>
            </a:extLst>
          </p:cNvPr>
          <p:cNvSpPr>
            <a:spLocks noGrp="1"/>
          </p:cNvSpPr>
          <p:nvPr>
            <p:ph type="title"/>
          </p:nvPr>
        </p:nvSpPr>
        <p:spPr>
          <a:xfrm>
            <a:off x="0" y="0"/>
            <a:ext cx="12192000" cy="587829"/>
          </a:xfrm>
        </p:spPr>
        <p:txBody>
          <a:bodyPr>
            <a:noAutofit/>
          </a:bodyPr>
          <a:lstStyle/>
          <a:p>
            <a:pPr algn="ctr"/>
            <a:r>
              <a:rPr lang="en-US" dirty="0">
                <a:solidFill>
                  <a:schemeClr val="bg1"/>
                </a:solidFill>
              </a:rPr>
              <a:t>System Architecture:</a:t>
            </a:r>
          </a:p>
        </p:txBody>
      </p:sp>
      <p:sp>
        <p:nvSpPr>
          <p:cNvPr id="5" name="Rectangle 4"/>
          <p:cNvSpPr/>
          <p:nvPr/>
        </p:nvSpPr>
        <p:spPr>
          <a:xfrm>
            <a:off x="1995055" y="681644"/>
            <a:ext cx="8503920" cy="1213658"/>
          </a:xfrm>
          <a:prstGeom prst="rect">
            <a:avLst/>
          </a:prstGeom>
          <a:solidFill>
            <a:schemeClr val="tx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1995055" y="1978428"/>
            <a:ext cx="8503921" cy="2535381"/>
          </a:xfrm>
          <a:prstGeom prst="rect">
            <a:avLst/>
          </a:prstGeom>
          <a:solidFill>
            <a:schemeClr val="tx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1995054" y="4572000"/>
            <a:ext cx="8503921" cy="1998617"/>
          </a:xfrm>
          <a:prstGeom prst="rect">
            <a:avLst/>
          </a:prstGeom>
          <a:solidFill>
            <a:schemeClr val="tx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p:cNvSpPr/>
          <p:nvPr/>
        </p:nvSpPr>
        <p:spPr>
          <a:xfrm>
            <a:off x="2302624" y="1188720"/>
            <a:ext cx="2660074" cy="548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Face attendance system</a:t>
            </a:r>
          </a:p>
        </p:txBody>
      </p:sp>
      <p:sp>
        <p:nvSpPr>
          <p:cNvPr id="9" name="Rounded Rectangle 8"/>
          <p:cNvSpPr/>
          <p:nvPr/>
        </p:nvSpPr>
        <p:spPr>
          <a:xfrm>
            <a:off x="5261956" y="1188720"/>
            <a:ext cx="2177935" cy="548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Placements Prediction </a:t>
            </a:r>
          </a:p>
        </p:txBody>
      </p:sp>
      <p:sp>
        <p:nvSpPr>
          <p:cNvPr id="10" name="Rounded Rectangle 9"/>
          <p:cNvSpPr/>
          <p:nvPr/>
        </p:nvSpPr>
        <p:spPr>
          <a:xfrm>
            <a:off x="7730836" y="1188720"/>
            <a:ext cx="2560320" cy="5486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Interactive </a:t>
            </a:r>
            <a:r>
              <a:rPr lang="en-US" dirty="0" err="1"/>
              <a:t>Chatbot</a:t>
            </a:r>
            <a:r>
              <a:rPr lang="en-US" dirty="0"/>
              <a:t> </a:t>
            </a:r>
          </a:p>
        </p:txBody>
      </p:sp>
      <p:sp>
        <p:nvSpPr>
          <p:cNvPr id="11" name="Rounded Rectangle 10"/>
          <p:cNvSpPr/>
          <p:nvPr/>
        </p:nvSpPr>
        <p:spPr>
          <a:xfrm>
            <a:off x="3192087" y="719051"/>
            <a:ext cx="6234546" cy="328353"/>
          </a:xfrm>
          <a:prstGeom prst="round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Smart intelligent featured apps used in college </a:t>
            </a:r>
          </a:p>
        </p:txBody>
      </p:sp>
      <p:sp>
        <p:nvSpPr>
          <p:cNvPr id="14" name="Rounded Rectangle 13"/>
          <p:cNvSpPr/>
          <p:nvPr/>
        </p:nvSpPr>
        <p:spPr>
          <a:xfrm>
            <a:off x="3011977" y="2101734"/>
            <a:ext cx="6234546" cy="328353"/>
          </a:xfrm>
          <a:prstGeom prst="round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Frontend technologies and core functionalities</a:t>
            </a:r>
          </a:p>
        </p:txBody>
      </p:sp>
      <p:sp>
        <p:nvSpPr>
          <p:cNvPr id="12" name="Rounded Rectangle 11"/>
          <p:cNvSpPr/>
          <p:nvPr/>
        </p:nvSpPr>
        <p:spPr>
          <a:xfrm>
            <a:off x="3011977" y="2701636"/>
            <a:ext cx="1427019" cy="159604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Html and css based pages</a:t>
            </a:r>
          </a:p>
        </p:txBody>
      </p:sp>
      <p:sp>
        <p:nvSpPr>
          <p:cNvPr id="15" name="Right Arrow 14"/>
          <p:cNvSpPr/>
          <p:nvPr/>
        </p:nvSpPr>
        <p:spPr>
          <a:xfrm>
            <a:off x="4438996" y="3344456"/>
            <a:ext cx="1130531" cy="1552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710843" y="2610196"/>
            <a:ext cx="1803862" cy="168748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All functionalities </a:t>
            </a:r>
          </a:p>
          <a:p>
            <a:pPr algn="ctr"/>
            <a:r>
              <a:rPr lang="en-US" dirty="0">
                <a:solidFill>
                  <a:schemeClr val="bg1"/>
                </a:solidFill>
              </a:rPr>
              <a:t>Handled through python</a:t>
            </a:r>
          </a:p>
        </p:txBody>
      </p:sp>
      <p:sp>
        <p:nvSpPr>
          <p:cNvPr id="17" name="Right Arrow 16"/>
          <p:cNvSpPr/>
          <p:nvPr/>
        </p:nvSpPr>
        <p:spPr>
          <a:xfrm rot="10800000">
            <a:off x="7589519" y="3344456"/>
            <a:ext cx="1147156" cy="2244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8811491" y="2701636"/>
            <a:ext cx="1479665" cy="159604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Different Machine learning models </a:t>
            </a:r>
          </a:p>
        </p:txBody>
      </p:sp>
      <p:sp>
        <p:nvSpPr>
          <p:cNvPr id="19" name="Can 18"/>
          <p:cNvSpPr/>
          <p:nvPr/>
        </p:nvSpPr>
        <p:spPr>
          <a:xfrm>
            <a:off x="3948545" y="4981311"/>
            <a:ext cx="1620982" cy="1296785"/>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Sql database </a:t>
            </a:r>
          </a:p>
        </p:txBody>
      </p:sp>
      <p:sp>
        <p:nvSpPr>
          <p:cNvPr id="20" name="Bent-Up Arrow 19"/>
          <p:cNvSpPr/>
          <p:nvPr/>
        </p:nvSpPr>
        <p:spPr>
          <a:xfrm>
            <a:off x="5598621" y="4771333"/>
            <a:ext cx="1421477" cy="548640"/>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9102436" y="5093622"/>
            <a:ext cx="897773" cy="1115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Excel sheets</a:t>
            </a:r>
          </a:p>
        </p:txBody>
      </p:sp>
      <p:sp>
        <p:nvSpPr>
          <p:cNvPr id="22" name="Right Arrow 21"/>
          <p:cNvSpPr/>
          <p:nvPr/>
        </p:nvSpPr>
        <p:spPr>
          <a:xfrm rot="16200000">
            <a:off x="9337186" y="4689247"/>
            <a:ext cx="515058" cy="251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p:cNvSpPr/>
          <p:nvPr/>
        </p:nvSpPr>
        <p:spPr>
          <a:xfrm>
            <a:off x="2061555" y="4609409"/>
            <a:ext cx="3327861" cy="270162"/>
          </a:xfrm>
          <a:prstGeom prst="roundRect">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Backend technologies</a:t>
            </a:r>
          </a:p>
        </p:txBody>
      </p:sp>
    </p:spTree>
    <p:extLst>
      <p:ext uri="{BB962C8B-B14F-4D97-AF65-F5344CB8AC3E}">
        <p14:creationId xmlns:p14="http://schemas.microsoft.com/office/powerpoint/2010/main" val="1419054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Diagram&#10;&#10;Description automatically generated">
            <a:extLst>
              <a:ext uri="{FF2B5EF4-FFF2-40B4-BE49-F238E27FC236}">
                <a16:creationId xmlns:a16="http://schemas.microsoft.com/office/drawing/2014/main" id="{756D4A65-420B-420D-AA11-E04D9AB6558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1002" b="1648"/>
          <a:stretch/>
        </p:blipFill>
        <p:spPr>
          <a:xfrm>
            <a:off x="833120" y="904875"/>
            <a:ext cx="9937549" cy="5495926"/>
          </a:xfrm>
          <a:prstGeom prst="rect">
            <a:avLst/>
          </a:prstGeom>
        </p:spPr>
      </p:pic>
      <p:sp>
        <p:nvSpPr>
          <p:cNvPr id="3" name="Title 2"/>
          <p:cNvSpPr>
            <a:spLocks noGrp="1"/>
          </p:cNvSpPr>
          <p:nvPr>
            <p:ph type="title"/>
          </p:nvPr>
        </p:nvSpPr>
        <p:spPr>
          <a:xfrm>
            <a:off x="0" y="0"/>
            <a:ext cx="12192000" cy="783771"/>
          </a:xfrm>
        </p:spPr>
        <p:txBody>
          <a:bodyPr/>
          <a:lstStyle/>
          <a:p>
            <a:pPr algn="ctr"/>
            <a:r>
              <a:rPr lang="en-US" dirty="0">
                <a:solidFill>
                  <a:schemeClr val="bg1"/>
                </a:solidFill>
              </a:rPr>
              <a:t>Use case diagrams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19A2-5E0F-4825-A339-39DEF3A2E46E}"/>
              </a:ext>
            </a:extLst>
          </p:cNvPr>
          <p:cNvSpPr txBox="1">
            <a:spLocks/>
          </p:cNvSpPr>
          <p:nvPr/>
        </p:nvSpPr>
        <p:spPr>
          <a:xfrm>
            <a:off x="0" y="336884"/>
            <a:ext cx="12192000" cy="1414914"/>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bg1"/>
                </a:solidFill>
                <a:effectLst/>
                <a:uLnTx/>
                <a:uFillTx/>
                <a:latin typeface="Calibri" panose="020F0502020204030204" pitchFamily="34" charset="0"/>
                <a:ea typeface="+mj-ea"/>
                <a:cs typeface="Calibri" panose="020F0502020204030204" pitchFamily="34" charset="0"/>
              </a:rPr>
              <a:t>Modules In the </a:t>
            </a:r>
            <a:r>
              <a:rPr kumimoji="0" lang="en-US" sz="4400" b="1" i="0" u="none" strike="noStrike" kern="1200" cap="none" spc="0" normalizeH="0" baseline="0" noProof="0" dirty="0">
                <a:ln>
                  <a:noFill/>
                </a:ln>
                <a:solidFill>
                  <a:schemeClr val="bg1"/>
                </a:solidFill>
                <a:effectLst/>
                <a:uLnTx/>
                <a:uFillTx/>
                <a:latin typeface="+mj-lt"/>
                <a:ea typeface="+mj-ea"/>
                <a:cs typeface="Calibri" panose="020F0502020204030204" pitchFamily="34" charset="0"/>
              </a:rPr>
              <a:t>Use</a:t>
            </a:r>
            <a:r>
              <a:rPr kumimoji="0" lang="en-US" sz="4400" b="1" i="0" u="none" strike="noStrike" kern="1200" cap="none" spc="0" normalizeH="0" baseline="0" noProof="0" dirty="0">
                <a:ln>
                  <a:noFill/>
                </a:ln>
                <a:solidFill>
                  <a:schemeClr val="bg1"/>
                </a:solidFill>
                <a:effectLst/>
                <a:uLnTx/>
                <a:uFillTx/>
                <a:latin typeface="Calibri" panose="020F0502020204030204" pitchFamily="34" charset="0"/>
                <a:ea typeface="+mj-ea"/>
                <a:cs typeface="Calibri" panose="020F0502020204030204" pitchFamily="34" charset="0"/>
              </a:rPr>
              <a:t> Case Diagram are:</a:t>
            </a:r>
            <a:br>
              <a:rPr kumimoji="0" lang="en-US" sz="2400" b="1" i="0" u="none" strike="noStrike" kern="1200" cap="none" spc="0" normalizeH="0" baseline="0" noProof="0" dirty="0">
                <a:ln>
                  <a:noFill/>
                </a:ln>
                <a:solidFill>
                  <a:schemeClr val="bg1"/>
                </a:solidFill>
                <a:effectLst/>
                <a:uLnTx/>
                <a:uFillTx/>
                <a:latin typeface="Calibri" panose="020F0502020204030204" pitchFamily="34" charset="0"/>
                <a:ea typeface="+mj-ea"/>
                <a:cs typeface="Calibri" panose="020F0502020204030204" pitchFamily="34" charset="0"/>
              </a:rPr>
            </a:br>
            <a:r>
              <a:rPr kumimoji="0" lang="en-US" sz="2800" b="1" i="0" u="none" strike="noStrike" kern="1200" cap="none" spc="0" normalizeH="0" baseline="0" noProof="0" dirty="0">
                <a:ln>
                  <a:noFill/>
                </a:ln>
                <a:solidFill>
                  <a:schemeClr val="bg1"/>
                </a:solidFill>
                <a:effectLst/>
                <a:uLnTx/>
                <a:uFillTx/>
                <a:latin typeface="Calibri" panose="020F0502020204030204" pitchFamily="34" charset="0"/>
                <a:ea typeface="+mj-ea"/>
                <a:cs typeface="Calibri" panose="020F0502020204030204" pitchFamily="34" charset="0"/>
              </a:rPr>
              <a:t>Home Page, Login, Check Previous Year Placements, Predict Placements, Chat </a:t>
            </a:r>
            <a:r>
              <a:rPr kumimoji="0" lang="en-US" sz="2800" b="1" i="0" u="none" strike="noStrike" kern="1200" cap="none" spc="0" normalizeH="0" baseline="0" noProof="0" dirty="0" err="1">
                <a:ln>
                  <a:noFill/>
                </a:ln>
                <a:solidFill>
                  <a:schemeClr val="bg1"/>
                </a:solidFill>
                <a:effectLst/>
                <a:uLnTx/>
                <a:uFillTx/>
                <a:latin typeface="Calibri" panose="020F0502020204030204" pitchFamily="34" charset="0"/>
                <a:ea typeface="+mj-ea"/>
                <a:cs typeface="Calibri" panose="020F0502020204030204" pitchFamily="34" charset="0"/>
              </a:rPr>
              <a:t>Bot</a:t>
            </a:r>
            <a:r>
              <a:rPr kumimoji="0" lang="en-US" sz="2800" b="1" i="0" u="none" strike="noStrike" kern="1200" cap="none" spc="0" normalizeH="0" baseline="0" noProof="0" dirty="0">
                <a:ln>
                  <a:noFill/>
                </a:ln>
                <a:solidFill>
                  <a:schemeClr val="bg1"/>
                </a:solidFill>
                <a:effectLst/>
                <a:uLnTx/>
                <a:uFillTx/>
                <a:latin typeface="Calibri" panose="020F0502020204030204" pitchFamily="34" charset="0"/>
                <a:ea typeface="+mj-ea"/>
                <a:cs typeface="Calibri" panose="020F0502020204030204" pitchFamily="34" charset="0"/>
              </a:rPr>
              <a:t> and Attendance.</a:t>
            </a:r>
            <a:br>
              <a:rPr kumimoji="0" lang="en-US" sz="2400" b="1" i="0" u="none" strike="noStrike" kern="1200" cap="none" spc="0" normalizeH="0" baseline="0" noProof="0" dirty="0">
                <a:ln>
                  <a:noFill/>
                </a:ln>
                <a:solidFill>
                  <a:schemeClr val="bg1"/>
                </a:solidFill>
                <a:effectLst/>
                <a:uLnTx/>
                <a:uFillTx/>
                <a:latin typeface="Calibri" panose="020F0502020204030204" pitchFamily="34" charset="0"/>
                <a:ea typeface="+mj-ea"/>
                <a:cs typeface="Calibri" panose="020F0502020204030204" pitchFamily="34" charset="0"/>
              </a:rPr>
            </a:br>
            <a:endParaRPr kumimoji="0" lang="en-US" sz="2400" b="1" i="0" u="none" strike="noStrike" kern="1200" cap="none" spc="0" normalizeH="0" baseline="0" noProof="0" dirty="0">
              <a:ln>
                <a:noFill/>
              </a:ln>
              <a:solidFill>
                <a:schemeClr val="bg1"/>
              </a:solidFill>
              <a:effectLst/>
              <a:uLnTx/>
              <a:uFillTx/>
              <a:latin typeface="Calibri" panose="020F0502020204030204" pitchFamily="34" charset="0"/>
              <a:ea typeface="+mj-ea"/>
              <a:cs typeface="Calibri" panose="020F0502020204030204" pitchFamily="34" charset="0"/>
            </a:endParaRPr>
          </a:p>
        </p:txBody>
      </p:sp>
      <p:sp>
        <p:nvSpPr>
          <p:cNvPr id="3" name="Content Placeholder 2">
            <a:extLst>
              <a:ext uri="{FF2B5EF4-FFF2-40B4-BE49-F238E27FC236}">
                <a16:creationId xmlns:a16="http://schemas.microsoft.com/office/drawing/2014/main" id="{F28590C0-8B2A-4468-BA05-DDEF22AE423D}"/>
              </a:ext>
            </a:extLst>
          </p:cNvPr>
          <p:cNvSpPr txBox="1">
            <a:spLocks/>
          </p:cNvSpPr>
          <p:nvPr/>
        </p:nvSpPr>
        <p:spPr>
          <a:xfrm>
            <a:off x="1270000" y="2021840"/>
            <a:ext cx="9910132" cy="4155123"/>
          </a:xfrm>
          <a:prstGeom prst="rect">
            <a:avLst/>
          </a:prstGeom>
        </p:spPr>
        <p:txBody>
          <a:bodyPr>
            <a:noAutofit/>
          </a:bodyPr>
          <a:lstStyle/>
          <a:p>
            <a:pPr marL="0" marR="0" lvl="0" indent="0" defTabSz="914400" rtl="0" eaLnBrk="1" fontAlgn="auto" latinLnBrk="0" hangingPunct="1">
              <a:lnSpc>
                <a:spcPct val="110000"/>
              </a:lnSpc>
              <a:spcBef>
                <a:spcPts val="1200"/>
              </a:spcBef>
              <a:spcAft>
                <a:spcPts val="0"/>
              </a:spcAft>
              <a:buClr>
                <a:schemeClr val="accent1"/>
              </a:buClr>
              <a:buSzTx/>
              <a:buFont typeface="Arial" panose="020B0604020202020204" pitchFamily="34" charset="0"/>
              <a:buNone/>
              <a:tabLst/>
              <a:defRPr/>
            </a:pP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There are mainly 3 actors in the Use Case Diagram : </a:t>
            </a:r>
            <a:b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b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1.) Student </a:t>
            </a:r>
            <a:b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b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2.) Faculty  </a:t>
            </a:r>
            <a:b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b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3.) Management </a:t>
            </a:r>
          </a:p>
          <a:p>
            <a:pPr marL="228600" marR="0" lvl="0" indent="-228600" algn="just" defTabSz="914400" rtl="0" eaLnBrk="1" fontAlgn="auto" latinLnBrk="0" hangingPunct="1">
              <a:lnSpc>
                <a:spcPct val="110000"/>
              </a:lnSpc>
              <a:spcBef>
                <a:spcPts val="1200"/>
              </a:spcBef>
              <a:spcAft>
                <a:spcPts val="0"/>
              </a:spcAft>
              <a:buClr>
                <a:schemeClr val="accent1"/>
              </a:buClr>
              <a:buSzTx/>
              <a:buFont typeface="Arial" panose="020B0604020202020204" pitchFamily="34" charset="0"/>
              <a:buChar char="•"/>
              <a:tabLst/>
              <a:defRPr/>
            </a:pPr>
            <a:r>
              <a:rPr kumimoji="0" lang="en-US" sz="2400" b="0" i="0" u="sng"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Student: </a:t>
            </a: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 Mainly a student can predict placements, make queries in the chat </a:t>
            </a:r>
            <a:r>
              <a:rPr kumimoji="0" lang="en-US" sz="2400" b="0" i="0" u="none" strike="noStrike" kern="1200" cap="none" spc="0" normalizeH="0" baseline="0" noProof="0" dirty="0" err="1">
                <a:ln>
                  <a:noFill/>
                </a:ln>
                <a:solidFill>
                  <a:schemeClr val="bg1"/>
                </a:solidFill>
                <a:effectLst/>
                <a:uLnTx/>
                <a:uFillTx/>
                <a:latin typeface="Calibri" panose="020F0502020204030204" pitchFamily="34" charset="0"/>
                <a:ea typeface="+mn-ea"/>
                <a:cs typeface="Calibri" panose="020F0502020204030204" pitchFamily="34" charset="0"/>
              </a:rPr>
              <a:t>bot</a:t>
            </a: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 and look over the previous year placements.</a:t>
            </a:r>
          </a:p>
          <a:p>
            <a:pPr marL="228600" marR="0" lvl="0" indent="-228600" algn="just" defTabSz="914400" rtl="0" eaLnBrk="1" fontAlgn="auto" latinLnBrk="0" hangingPunct="1">
              <a:lnSpc>
                <a:spcPct val="110000"/>
              </a:lnSpc>
              <a:spcBef>
                <a:spcPts val="1200"/>
              </a:spcBef>
              <a:spcAft>
                <a:spcPts val="0"/>
              </a:spcAft>
              <a:buClr>
                <a:schemeClr val="accent1"/>
              </a:buClr>
              <a:buSzTx/>
              <a:buFont typeface="Arial" panose="020B0604020202020204" pitchFamily="34" charset="0"/>
              <a:buChar char="•"/>
              <a:tabLst/>
              <a:defRPr/>
            </a:pPr>
            <a:r>
              <a:rPr kumimoji="0" lang="en-US" sz="2400" b="0" i="0" u="sng"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Faculty: </a:t>
            </a: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The Main function of the faculty is to take attendance in fair and secure manner through camera.</a:t>
            </a:r>
          </a:p>
          <a:p>
            <a:pPr marL="228600" marR="0" lvl="0" indent="-228600" algn="just" defTabSz="914400" rtl="0" eaLnBrk="1" fontAlgn="auto" latinLnBrk="0" hangingPunct="1">
              <a:lnSpc>
                <a:spcPct val="110000"/>
              </a:lnSpc>
              <a:spcBef>
                <a:spcPts val="1200"/>
              </a:spcBef>
              <a:spcAft>
                <a:spcPts val="0"/>
              </a:spcAft>
              <a:buClr>
                <a:schemeClr val="accent1"/>
              </a:buClr>
              <a:buSzTx/>
              <a:buFont typeface="Arial" panose="020B0604020202020204" pitchFamily="34" charset="0"/>
              <a:buChar char="•"/>
              <a:tabLst/>
              <a:defRPr/>
            </a:pPr>
            <a:r>
              <a:rPr kumimoji="0" lang="en-US" sz="2400" b="0" i="0" u="sng"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Management</a:t>
            </a:r>
            <a:r>
              <a:rPr kumimoji="0" lang="en-US" sz="2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 Management  mainly controls the login credentials and overall functioning of the Smart College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9029-E5E6-4354-ABB8-582633195331}"/>
              </a:ext>
            </a:extLst>
          </p:cNvPr>
          <p:cNvSpPr>
            <a:spLocks noGrp="1"/>
          </p:cNvSpPr>
          <p:nvPr>
            <p:ph type="title"/>
          </p:nvPr>
        </p:nvSpPr>
        <p:spPr>
          <a:xfrm>
            <a:off x="0" y="455362"/>
            <a:ext cx="12192000" cy="757421"/>
          </a:xfrm>
        </p:spPr>
        <p:txBody>
          <a:bodyPr>
            <a:noAutofit/>
          </a:bodyPr>
          <a:lstStyle/>
          <a:p>
            <a:pPr algn="ctr"/>
            <a:r>
              <a:rPr lang="en-US" dirty="0">
                <a:solidFill>
                  <a:schemeClr val="bg1"/>
                </a:solidFill>
              </a:rPr>
              <a:t>System Requirements:</a:t>
            </a:r>
          </a:p>
        </p:txBody>
      </p:sp>
      <p:sp>
        <p:nvSpPr>
          <p:cNvPr id="3" name="Content Placeholder 2">
            <a:extLst>
              <a:ext uri="{FF2B5EF4-FFF2-40B4-BE49-F238E27FC236}">
                <a16:creationId xmlns:a16="http://schemas.microsoft.com/office/drawing/2014/main" id="{F0BEDA6E-FE80-4E31-AC91-6AF5810D6C8E}"/>
              </a:ext>
            </a:extLst>
          </p:cNvPr>
          <p:cNvSpPr>
            <a:spLocks noGrp="1"/>
          </p:cNvSpPr>
          <p:nvPr>
            <p:ph idx="1"/>
          </p:nvPr>
        </p:nvSpPr>
        <p:spPr>
          <a:xfrm>
            <a:off x="1587710" y="1423851"/>
            <a:ext cx="9486690" cy="5081452"/>
          </a:xfrm>
        </p:spPr>
        <p:txBody>
          <a:bodyPr>
            <a:normAutofit fontScale="77500" lnSpcReduction="20000"/>
          </a:bodyPr>
          <a:lstStyle/>
          <a:p>
            <a:r>
              <a:rPr lang="en-US" sz="3300" b="1" i="1" dirty="0">
                <a:solidFill>
                  <a:schemeClr val="bg1"/>
                </a:solidFill>
              </a:rPr>
              <a:t>Python Libraries which include </a:t>
            </a:r>
            <a:r>
              <a:rPr lang="en-US" sz="2800" b="1" i="1" dirty="0">
                <a:solidFill>
                  <a:schemeClr val="bg1"/>
                </a:solidFill>
              </a:rPr>
              <a:t>:</a:t>
            </a:r>
            <a:r>
              <a:rPr lang="en-US" b="1" i="1" dirty="0">
                <a:solidFill>
                  <a:schemeClr val="bg1"/>
                </a:solidFill>
              </a:rPr>
              <a:t> </a:t>
            </a:r>
            <a:r>
              <a:rPr lang="en-US" sz="2600" dirty="0">
                <a:solidFill>
                  <a:schemeClr val="bg1"/>
                </a:solidFill>
              </a:rPr>
              <a:t>Numpy ,sklearn ,pandas ,opencv,flask and nklt</a:t>
            </a:r>
          </a:p>
          <a:p>
            <a:endParaRPr lang="en-US" sz="2800" b="1" i="1" dirty="0">
              <a:solidFill>
                <a:schemeClr val="bg1"/>
              </a:solidFill>
            </a:endParaRPr>
          </a:p>
          <a:p>
            <a:r>
              <a:rPr lang="en-US" sz="3300" b="1" i="1" dirty="0">
                <a:solidFill>
                  <a:schemeClr val="bg1"/>
                </a:solidFill>
              </a:rPr>
              <a:t>Tool used</a:t>
            </a:r>
            <a:r>
              <a:rPr lang="en-US" sz="3300" dirty="0">
                <a:solidFill>
                  <a:schemeClr val="bg1"/>
                </a:solidFill>
              </a:rPr>
              <a:t> </a:t>
            </a:r>
            <a:r>
              <a:rPr lang="en-US" sz="3000" dirty="0">
                <a:solidFill>
                  <a:schemeClr val="bg1"/>
                </a:solidFill>
              </a:rPr>
              <a:t>:</a:t>
            </a:r>
            <a:r>
              <a:rPr lang="en-US" sz="2800" dirty="0">
                <a:solidFill>
                  <a:schemeClr val="bg1"/>
                </a:solidFill>
              </a:rPr>
              <a:t> </a:t>
            </a:r>
            <a:r>
              <a:rPr lang="en-US" sz="2600" dirty="0">
                <a:solidFill>
                  <a:schemeClr val="bg1"/>
                </a:solidFill>
              </a:rPr>
              <a:t>Pycharm Editor</a:t>
            </a:r>
          </a:p>
          <a:p>
            <a:pPr>
              <a:buNone/>
            </a:pPr>
            <a:endParaRPr lang="en-US" sz="2800" b="1" i="1" dirty="0">
              <a:solidFill>
                <a:schemeClr val="bg1"/>
              </a:solidFill>
            </a:endParaRPr>
          </a:p>
          <a:p>
            <a:r>
              <a:rPr lang="en-US" sz="3300" b="1" i="1" dirty="0">
                <a:solidFill>
                  <a:schemeClr val="bg1"/>
                </a:solidFill>
              </a:rPr>
              <a:t>For database tool used</a:t>
            </a:r>
            <a:r>
              <a:rPr lang="en-US" sz="2800" dirty="0">
                <a:solidFill>
                  <a:schemeClr val="bg1"/>
                </a:solidFill>
              </a:rPr>
              <a:t>: </a:t>
            </a:r>
            <a:r>
              <a:rPr lang="en-US" sz="2600" dirty="0">
                <a:solidFill>
                  <a:schemeClr val="bg1"/>
                </a:solidFill>
              </a:rPr>
              <a:t>Microsoft Sql Server Management studio</a:t>
            </a:r>
          </a:p>
          <a:p>
            <a:pPr>
              <a:buNone/>
            </a:pPr>
            <a:endParaRPr lang="en-US" sz="2000" dirty="0">
              <a:solidFill>
                <a:schemeClr val="bg1"/>
              </a:solidFill>
            </a:endParaRPr>
          </a:p>
          <a:p>
            <a:r>
              <a:rPr lang="en-US" sz="3300" b="1" i="1" dirty="0">
                <a:solidFill>
                  <a:schemeClr val="bg1"/>
                </a:solidFill>
              </a:rPr>
              <a:t>For Frontend Technologies Used </a:t>
            </a:r>
            <a:r>
              <a:rPr lang="en-US" sz="2800" dirty="0">
                <a:solidFill>
                  <a:schemeClr val="bg1"/>
                </a:solidFill>
              </a:rPr>
              <a:t>:</a:t>
            </a:r>
            <a:r>
              <a:rPr lang="en-US" sz="2000" dirty="0">
                <a:solidFill>
                  <a:schemeClr val="bg1"/>
                </a:solidFill>
              </a:rPr>
              <a:t> </a:t>
            </a:r>
            <a:r>
              <a:rPr lang="en-US" sz="2800" dirty="0">
                <a:solidFill>
                  <a:schemeClr val="bg1"/>
                </a:solidFill>
              </a:rPr>
              <a:t>Html,Css, JavaScript</a:t>
            </a:r>
          </a:p>
          <a:p>
            <a:endParaRPr lang="en-US" sz="2000" dirty="0">
              <a:solidFill>
                <a:schemeClr val="bg1"/>
              </a:solidFill>
            </a:endParaRPr>
          </a:p>
          <a:p>
            <a:r>
              <a:rPr lang="en-US" sz="3300" b="1" i="1" dirty="0">
                <a:solidFill>
                  <a:schemeClr val="bg1"/>
                </a:solidFill>
              </a:rPr>
              <a:t>Computer Specifications Required</a:t>
            </a:r>
            <a:r>
              <a:rPr lang="en-US" sz="3300" dirty="0">
                <a:solidFill>
                  <a:schemeClr val="bg1"/>
                </a:solidFill>
              </a:rPr>
              <a:t>:</a:t>
            </a:r>
            <a:r>
              <a:rPr lang="en-US" sz="3000" dirty="0">
                <a:solidFill>
                  <a:schemeClr val="bg1"/>
                </a:solidFill>
              </a:rPr>
              <a:t> </a:t>
            </a:r>
            <a:r>
              <a:rPr lang="en-US" sz="2800" dirty="0">
                <a:solidFill>
                  <a:schemeClr val="bg1"/>
                </a:solidFill>
              </a:rPr>
              <a:t>4 Gb ram, Windows Os, 2 Gb Rom.</a:t>
            </a:r>
          </a:p>
          <a:p>
            <a:endParaRPr lang="en-US" sz="2000"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639591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09897" y="1410789"/>
            <a:ext cx="10672354" cy="4616648"/>
          </a:xfrm>
          <a:prstGeom prst="rect">
            <a:avLst/>
          </a:prstGeom>
        </p:spPr>
        <p:txBody>
          <a:bodyPr wrap="square">
            <a:spAutoFit/>
          </a:bodyPr>
          <a:lstStyle/>
          <a:p>
            <a:pPr algn="ctr"/>
            <a:endParaRPr lang="en-US" dirty="0">
              <a:solidFill>
                <a:schemeClr val="bg1"/>
              </a:solidFill>
            </a:endParaRPr>
          </a:p>
          <a:p>
            <a:pPr lvl="1" algn="just">
              <a:buFont typeface="Arial" pitchFamily="34" charset="0"/>
              <a:buChar char="•"/>
            </a:pPr>
            <a:r>
              <a:rPr lang="en-US" sz="2800" b="1" dirty="0">
                <a:solidFill>
                  <a:schemeClr val="bg1"/>
                </a:solidFill>
              </a:rPr>
              <a:t>Interactive and Engaging Content:</a:t>
            </a:r>
            <a:r>
              <a:rPr lang="en-US" sz="2800" dirty="0">
                <a:solidFill>
                  <a:schemeClr val="bg1"/>
                </a:solidFill>
              </a:rPr>
              <a:t> </a:t>
            </a:r>
            <a:r>
              <a:rPr lang="en-US" sz="2400" dirty="0">
                <a:solidFill>
                  <a:schemeClr val="bg1"/>
                </a:solidFill>
              </a:rPr>
              <a:t>Multimedia resources, simulations, and virtual labs can make learning more dynamic and easier to understand.</a:t>
            </a:r>
          </a:p>
          <a:p>
            <a:pPr lvl="1" algn="just"/>
            <a:endParaRPr lang="en-US" sz="2400" dirty="0">
              <a:solidFill>
                <a:schemeClr val="bg1"/>
              </a:solidFill>
            </a:endParaRPr>
          </a:p>
          <a:p>
            <a:pPr lvl="1" algn="just">
              <a:buFont typeface="Arial" pitchFamily="34" charset="0"/>
              <a:buChar char="•"/>
            </a:pPr>
            <a:r>
              <a:rPr lang="en-US" sz="2800" b="1" dirty="0">
                <a:solidFill>
                  <a:schemeClr val="bg1"/>
                </a:solidFill>
              </a:rPr>
              <a:t>Personalized Learning:</a:t>
            </a:r>
            <a:r>
              <a:rPr lang="en-US" sz="2800" dirty="0">
                <a:solidFill>
                  <a:schemeClr val="bg1"/>
                </a:solidFill>
              </a:rPr>
              <a:t> </a:t>
            </a:r>
            <a:r>
              <a:rPr lang="en-US" sz="2400" dirty="0">
                <a:solidFill>
                  <a:schemeClr val="bg1"/>
                </a:solidFill>
              </a:rPr>
              <a:t>AI-powered platforms can adapt to individual student needs, learning paces, and preferences, offering tailored content and feedback.</a:t>
            </a:r>
          </a:p>
          <a:p>
            <a:pPr lvl="1" algn="just"/>
            <a:endParaRPr lang="en-US" sz="2400" dirty="0">
              <a:solidFill>
                <a:schemeClr val="bg1"/>
              </a:solidFill>
            </a:endParaRPr>
          </a:p>
          <a:p>
            <a:pPr lvl="1" algn="just">
              <a:buFont typeface="Arial" pitchFamily="34" charset="0"/>
              <a:buChar char="•"/>
            </a:pPr>
            <a:r>
              <a:rPr lang="en-US" sz="2800" b="1" dirty="0">
                <a:solidFill>
                  <a:schemeClr val="bg1"/>
                </a:solidFill>
              </a:rPr>
              <a:t>Increased Accessibility</a:t>
            </a:r>
            <a:r>
              <a:rPr lang="en-US" sz="2400" b="1" dirty="0">
                <a:solidFill>
                  <a:schemeClr val="bg1"/>
                </a:solidFill>
              </a:rPr>
              <a:t>:</a:t>
            </a:r>
            <a:r>
              <a:rPr lang="en-US" sz="2400" dirty="0">
                <a:solidFill>
                  <a:schemeClr val="bg1"/>
                </a:solidFill>
              </a:rPr>
              <a:t> Online resources, recorded lectures, and digital libraries provide learning opportunities anytime, anywhere, catering to diverse student schedules and learning styles.</a:t>
            </a:r>
          </a:p>
        </p:txBody>
      </p:sp>
      <p:sp>
        <p:nvSpPr>
          <p:cNvPr id="4" name="Title 3"/>
          <p:cNvSpPr>
            <a:spLocks noGrp="1"/>
          </p:cNvSpPr>
          <p:nvPr>
            <p:ph type="title"/>
          </p:nvPr>
        </p:nvSpPr>
        <p:spPr>
          <a:xfrm>
            <a:off x="0" y="455362"/>
            <a:ext cx="12192000" cy="1550419"/>
          </a:xfrm>
        </p:spPr>
        <p:txBody>
          <a:bodyPr/>
          <a:lstStyle/>
          <a:p>
            <a:pPr algn="ctr"/>
            <a:r>
              <a:rPr lang="en-US" dirty="0">
                <a:solidFill>
                  <a:schemeClr val="bg1"/>
                </a:solidFill>
              </a:rPr>
              <a:t>Advantages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92331" y="1489166"/>
            <a:ext cx="10855236" cy="5755422"/>
          </a:xfrm>
          <a:prstGeom prst="rect">
            <a:avLst/>
          </a:prstGeom>
        </p:spPr>
        <p:txBody>
          <a:bodyPr wrap="square">
            <a:spAutoFit/>
          </a:bodyPr>
          <a:lstStyle/>
          <a:p>
            <a:pPr algn="just">
              <a:buFont typeface="Arial" pitchFamily="34" charset="0"/>
              <a:buChar char="•"/>
            </a:pPr>
            <a:r>
              <a:rPr lang="en-US" sz="2800" b="1" dirty="0">
                <a:solidFill>
                  <a:schemeClr val="bg1"/>
                </a:solidFill>
              </a:rPr>
              <a:t>implementation and Maintenance Costs:</a:t>
            </a:r>
            <a:endParaRPr lang="en-US" sz="2800" dirty="0">
              <a:solidFill>
                <a:schemeClr val="bg1"/>
              </a:solidFill>
            </a:endParaRPr>
          </a:p>
          <a:p>
            <a:pPr lvl="1" algn="just">
              <a:buFont typeface="Arial" pitchFamily="34" charset="0"/>
              <a:buChar char="•"/>
            </a:pPr>
            <a:r>
              <a:rPr lang="en-US" sz="2400" dirty="0">
                <a:solidFill>
                  <a:schemeClr val="bg1"/>
                </a:solidFill>
              </a:rPr>
              <a:t>Significant investment is required for hardware, software, network infrastructure, and the integration of various systems.</a:t>
            </a:r>
          </a:p>
          <a:p>
            <a:pPr lvl="1" algn="just">
              <a:buFont typeface="Arial" pitchFamily="34" charset="0"/>
              <a:buChar char="•"/>
            </a:pPr>
            <a:r>
              <a:rPr lang="en-US" sz="2400" dirty="0">
                <a:solidFill>
                  <a:schemeClr val="bg1"/>
                </a:solidFill>
              </a:rPr>
              <a:t>Ongoing costs for software licenses, updates, maintenance, and technical support can be substantial</a:t>
            </a:r>
          </a:p>
          <a:p>
            <a:pPr lvl="1" algn="just"/>
            <a:endParaRPr lang="en-US" sz="2400" dirty="0">
              <a:solidFill>
                <a:schemeClr val="bg1"/>
              </a:solidFill>
            </a:endParaRPr>
          </a:p>
          <a:p>
            <a:pPr>
              <a:buFont typeface="Arial" pitchFamily="34" charset="0"/>
              <a:buChar char="•"/>
            </a:pPr>
            <a:r>
              <a:rPr lang="en-US" sz="2800" b="1" dirty="0">
                <a:solidFill>
                  <a:schemeClr val="bg1"/>
                </a:solidFill>
              </a:rPr>
              <a:t>Digital Divide and Accessibility Issues:</a:t>
            </a:r>
            <a:endParaRPr lang="en-US" sz="2800" dirty="0">
              <a:solidFill>
                <a:schemeClr val="bg1"/>
              </a:solidFill>
            </a:endParaRPr>
          </a:p>
          <a:p>
            <a:pPr lvl="1" algn="just">
              <a:buFont typeface="Arial" pitchFamily="34" charset="0"/>
              <a:buChar char="•"/>
            </a:pPr>
            <a:r>
              <a:rPr lang="en-US" sz="2400" dirty="0">
                <a:solidFill>
                  <a:schemeClr val="bg1"/>
                </a:solidFill>
              </a:rPr>
              <a:t>    Not all students may have equal access to the necessary technology (devices, reliable internet), potentially exacerbating existing socioeconomic disparities.</a:t>
            </a:r>
          </a:p>
          <a:p>
            <a:pPr lvl="1" algn="just">
              <a:buFont typeface="Arial" pitchFamily="34" charset="0"/>
              <a:buChar char="•"/>
            </a:pPr>
            <a:r>
              <a:rPr lang="en-US" sz="2400" dirty="0">
                <a:solidFill>
                  <a:schemeClr val="bg1"/>
                </a:solidFill>
              </a:rPr>
              <a:t>    Ensuring that smart systems are accessible to students with disabilities requires careful planning and implementation of inclusive design principles.</a:t>
            </a:r>
          </a:p>
          <a:p>
            <a:pPr lvl="2" algn="just">
              <a:buFont typeface="Arial" pitchFamily="34" charset="0"/>
              <a:buChar char="•"/>
            </a:pPr>
            <a:endParaRPr lang="en-US" sz="2400" dirty="0">
              <a:solidFill>
                <a:schemeClr val="bg1"/>
              </a:solidFill>
            </a:endParaRPr>
          </a:p>
          <a:p>
            <a:pPr>
              <a:buFont typeface="Arial" pitchFamily="34" charset="0"/>
              <a:buChar char="•"/>
            </a:pPr>
            <a:endParaRPr lang="en-US" sz="2400" dirty="0">
              <a:solidFill>
                <a:schemeClr val="bg1"/>
              </a:solidFill>
            </a:endParaRPr>
          </a:p>
          <a:p>
            <a:pPr lvl="1" algn="just">
              <a:buFont typeface="Arial" pitchFamily="34" charset="0"/>
              <a:buChar char="•"/>
            </a:pPr>
            <a:endParaRPr lang="en-US" sz="2400" dirty="0">
              <a:solidFill>
                <a:schemeClr val="bg1"/>
              </a:solidFill>
            </a:endParaRPr>
          </a:p>
        </p:txBody>
      </p:sp>
      <p:sp>
        <p:nvSpPr>
          <p:cNvPr id="3" name="Title 2"/>
          <p:cNvSpPr>
            <a:spLocks noGrp="1"/>
          </p:cNvSpPr>
          <p:nvPr>
            <p:ph type="title"/>
          </p:nvPr>
        </p:nvSpPr>
        <p:spPr>
          <a:xfrm>
            <a:off x="0" y="455362"/>
            <a:ext cx="12192000" cy="1550419"/>
          </a:xfrm>
        </p:spPr>
        <p:txBody>
          <a:bodyPr/>
          <a:lstStyle/>
          <a:p>
            <a:pPr algn="ctr"/>
            <a:r>
              <a:rPr lang="en-US" dirty="0">
                <a:solidFill>
                  <a:schemeClr val="bg1"/>
                </a:solidFill>
              </a:rPr>
              <a:t>Disadvantages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005839" y="1567543"/>
            <a:ext cx="10424161" cy="2677656"/>
          </a:xfrm>
          <a:prstGeom prst="rect">
            <a:avLst/>
          </a:prstGeom>
        </p:spPr>
        <p:txBody>
          <a:bodyPr wrap="square">
            <a:spAutoFit/>
          </a:bodyPr>
          <a:lstStyle/>
          <a:p>
            <a:pPr algn="just"/>
            <a:r>
              <a:rPr lang="en-US" sz="2400" dirty="0">
                <a:solidFill>
                  <a:schemeClr val="bg1"/>
                </a:solidFill>
              </a:rPr>
              <a:t>This system aims to build an effective class management system using modern technical features. The proposed system will be able to mark the attendance via face recognition and can control </a:t>
            </a:r>
            <a:r>
              <a:rPr lang="en-US" sz="2400" dirty="0" err="1">
                <a:solidFill>
                  <a:schemeClr val="bg1"/>
                </a:solidFill>
              </a:rPr>
              <a:t>IoT</a:t>
            </a:r>
            <a:r>
              <a:rPr lang="en-US" sz="2400" dirty="0">
                <a:solidFill>
                  <a:schemeClr val="bg1"/>
                </a:solidFill>
              </a:rPr>
              <a:t> and we can share things online via the app. But the technology world developing exponentially. So, we have to constantly upgrade our system so that it will be the most efficient and effective for future generations, especially our students.</a:t>
            </a:r>
          </a:p>
        </p:txBody>
      </p:sp>
      <p:sp>
        <p:nvSpPr>
          <p:cNvPr id="3" name="Title 2"/>
          <p:cNvSpPr>
            <a:spLocks noGrp="1"/>
          </p:cNvSpPr>
          <p:nvPr>
            <p:ph type="title"/>
          </p:nvPr>
        </p:nvSpPr>
        <p:spPr>
          <a:xfrm>
            <a:off x="0" y="455362"/>
            <a:ext cx="12192000" cy="1550419"/>
          </a:xfrm>
        </p:spPr>
        <p:txBody>
          <a:bodyPr/>
          <a:lstStyle/>
          <a:p>
            <a:pPr algn="ctr"/>
            <a:r>
              <a:rPr lang="en-US" dirty="0">
                <a:solidFill>
                  <a:schemeClr val="bg1"/>
                </a:solidFill>
              </a:rPr>
              <a:t>Conclusion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0" y="511474"/>
            <a:ext cx="12192000" cy="1446550"/>
          </a:xfrm>
          <a:prstGeom prst="rect">
            <a:avLst/>
          </a:prstGeom>
          <a:noFill/>
        </p:spPr>
        <p:txBody>
          <a:bodyPr wrap="square" rtlCol="0">
            <a:spAutoFit/>
          </a:bodyPr>
          <a:lstStyle/>
          <a:p>
            <a:pPr algn="ctr"/>
            <a:r>
              <a:rPr lang="en-US" sz="4400" b="1" dirty="0">
                <a:solidFill>
                  <a:schemeClr val="bg1"/>
                </a:solidFill>
              </a:rPr>
              <a:t>References</a:t>
            </a:r>
          </a:p>
          <a:p>
            <a:pPr algn="ctr"/>
            <a:endParaRPr lang="en-US" sz="4400" b="1" dirty="0">
              <a:solidFill>
                <a:schemeClr val="bg1"/>
              </a:solidFill>
            </a:endParaRPr>
          </a:p>
        </p:txBody>
      </p:sp>
      <p:sp>
        <p:nvSpPr>
          <p:cNvPr id="3" name="TextBox 2"/>
          <p:cNvSpPr txBox="1"/>
          <p:nvPr/>
        </p:nvSpPr>
        <p:spPr>
          <a:xfrm>
            <a:off x="2003367" y="1528354"/>
            <a:ext cx="8312728" cy="6186309"/>
          </a:xfrm>
          <a:prstGeom prst="rect">
            <a:avLst/>
          </a:prstGeom>
          <a:noFill/>
        </p:spPr>
        <p:txBody>
          <a:bodyPr wrap="square" rtlCol="0">
            <a:spAutoFit/>
          </a:bodyPr>
          <a:lstStyle/>
          <a:p>
            <a:pPr marL="285750" indent="-285750">
              <a:buFont typeface="Arial" pitchFamily="34" charset="0"/>
              <a:buChar char="•"/>
            </a:pPr>
            <a:r>
              <a:rPr lang="en-US" sz="2400" dirty="0">
                <a:hlinkClick r:id="rId2"/>
              </a:rPr>
              <a:t>https://scikit-learn.org/stable/modules/svm.html</a:t>
            </a:r>
            <a:endParaRPr lang="en-US" sz="2400" dirty="0"/>
          </a:p>
          <a:p>
            <a:pPr marL="285750" indent="-285750">
              <a:buFont typeface="Arial" pitchFamily="34" charset="0"/>
              <a:buChar char="•"/>
            </a:pPr>
            <a:endParaRPr lang="en-US" sz="2400" dirty="0"/>
          </a:p>
          <a:p>
            <a:pPr marL="285750" indent="-285750">
              <a:buFont typeface="Arial" pitchFamily="34" charset="0"/>
              <a:buChar char="•"/>
            </a:pPr>
            <a:r>
              <a:rPr lang="en-US" sz="2400" dirty="0">
                <a:hlinkClick r:id="rId3"/>
              </a:rPr>
              <a:t>https://www.tutorialspoint.com/tutorial_view.htm?cid=flask&amp;pid</a:t>
            </a:r>
            <a:r>
              <a:rPr lang="en-US" sz="2400" dirty="0"/>
              <a:t>=</a:t>
            </a:r>
          </a:p>
          <a:p>
            <a:pPr marL="285750" indent="-285750">
              <a:buFont typeface="Arial" pitchFamily="34" charset="0"/>
              <a:buChar char="•"/>
            </a:pPr>
            <a:endParaRPr lang="en-US" sz="2400" dirty="0"/>
          </a:p>
          <a:p>
            <a:pPr marL="285750" indent="-285750">
              <a:buFont typeface="Arial" pitchFamily="34" charset="0"/>
              <a:buChar char="•"/>
            </a:pPr>
            <a:r>
              <a:rPr lang="en-US" sz="2400" dirty="0">
                <a:hlinkClick r:id="rId4"/>
              </a:rPr>
              <a:t>https://www.w3schools.com/html/</a:t>
            </a:r>
            <a:endParaRPr lang="en-US" sz="2400" dirty="0"/>
          </a:p>
          <a:p>
            <a:pPr marL="285750" indent="-285750">
              <a:buFont typeface="Arial" pitchFamily="34" charset="0"/>
              <a:buChar char="•"/>
            </a:pPr>
            <a:endParaRPr lang="en-US" sz="2400" dirty="0"/>
          </a:p>
          <a:p>
            <a:pPr marL="285750" indent="-285750">
              <a:buFont typeface="Arial" pitchFamily="34" charset="0"/>
              <a:buChar char="•"/>
            </a:pPr>
            <a:r>
              <a:rPr lang="en-US" sz="2400" dirty="0">
                <a:hlinkClick r:id="rId5"/>
              </a:rPr>
              <a:t>https://www.w3schools.com/js/</a:t>
            </a:r>
            <a:endParaRPr lang="en-US" sz="2400" dirty="0"/>
          </a:p>
          <a:p>
            <a:pPr marL="285750" indent="-285750">
              <a:buFont typeface="Arial" pitchFamily="34" charset="0"/>
              <a:buChar char="•"/>
            </a:pPr>
            <a:endParaRPr lang="en-US" sz="2400" dirty="0"/>
          </a:p>
          <a:p>
            <a:pPr marL="285750" indent="-285750">
              <a:buFont typeface="Arial" pitchFamily="34" charset="0"/>
              <a:buChar char="•"/>
            </a:pPr>
            <a:r>
              <a:rPr lang="en-US" sz="2400" dirty="0">
                <a:hlinkClick r:id="rId6"/>
              </a:rPr>
              <a:t>https://towardsdatascience.com/cnn-based-face-detector-from-dlib-c3696195e01c</a:t>
            </a:r>
            <a:endParaRPr lang="en-US" sz="2400" dirty="0"/>
          </a:p>
          <a:p>
            <a:pPr marL="285750" indent="-285750">
              <a:buFont typeface="Arial" pitchFamily="34" charset="0"/>
              <a:buChar char="•"/>
            </a:pPr>
            <a:endParaRPr lang="en-US" sz="2400" dirty="0"/>
          </a:p>
          <a:p>
            <a:endParaRPr lang="en-US" sz="2400" dirty="0"/>
          </a:p>
          <a:p>
            <a:pPr marL="285750" indent="-285750">
              <a:buFont typeface="Arial" pitchFamily="34" charset="0"/>
              <a:buChar char="•"/>
            </a:pPr>
            <a:endParaRPr lang="en-US" sz="2400" dirty="0"/>
          </a:p>
          <a:p>
            <a:endParaRPr lang="en-US" sz="2400" dirty="0"/>
          </a:p>
          <a:p>
            <a:pPr marL="285750" indent="-285750">
              <a:buFont typeface="Arial" pitchFamily="34" charset="0"/>
              <a:buChar char="•"/>
            </a:pPr>
            <a:endParaRPr lang="en-US" dirty="0"/>
          </a:p>
          <a:p>
            <a:pPr marL="285750" indent="-285750">
              <a:buFont typeface="Arial" pitchFamily="34" charset="0"/>
              <a:buChar char="•"/>
            </a:pPr>
            <a:endParaRPr lang="en-US" dirty="0"/>
          </a:p>
        </p:txBody>
      </p:sp>
    </p:spTree>
    <p:extLst>
      <p:ext uri="{BB962C8B-B14F-4D97-AF65-F5344CB8AC3E}">
        <p14:creationId xmlns:p14="http://schemas.microsoft.com/office/powerpoint/2010/main" val="620796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9000"/>
          </a:schemeClr>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InterweaveVTI">
  <a:themeElements>
    <a:clrScheme name="AnalogousFromLightSeedLeftStep">
      <a:dk1>
        <a:srgbClr val="000000"/>
      </a:dk1>
      <a:lt1>
        <a:srgbClr val="FFFFFF"/>
      </a:lt1>
      <a:dk2>
        <a:srgbClr val="243741"/>
      </a:dk2>
      <a:lt2>
        <a:srgbClr val="E2E8E5"/>
      </a:lt2>
      <a:accent1>
        <a:srgbClr val="C696B1"/>
      </a:accent1>
      <a:accent2>
        <a:srgbClr val="BA7FB9"/>
      </a:accent2>
      <a:accent3>
        <a:srgbClr val="B396C6"/>
      </a:accent3>
      <a:accent4>
        <a:srgbClr val="8A7FBA"/>
      </a:accent4>
      <a:accent5>
        <a:srgbClr val="96A1C6"/>
      </a:accent5>
      <a:accent6>
        <a:srgbClr val="7FA5BA"/>
      </a:accent6>
      <a:hlink>
        <a:srgbClr val="558D6D"/>
      </a:hlink>
      <a:folHlink>
        <a:srgbClr val="7F7F7F"/>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Props/app.xml><?xml version="1.0" encoding="utf-8"?>
<Properties xmlns="http://schemas.openxmlformats.org/officeDocument/2006/extended-properties" xmlns:vt="http://schemas.openxmlformats.org/officeDocument/2006/docPropsVTypes">
  <TotalTime>312</TotalTime>
  <Words>1072</Words>
  <Application>Microsoft Office PowerPoint</Application>
  <PresentationFormat>Widescreen</PresentationFormat>
  <Paragraphs>96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Neue Haas Grotesk Text Pro</vt:lpstr>
      <vt:lpstr>InterweaveVTI</vt:lpstr>
      <vt:lpstr>PowerPoint Presentation</vt:lpstr>
      <vt:lpstr>INDEX</vt:lpstr>
      <vt:lpstr>Abstract</vt:lpstr>
      <vt:lpstr>Introduction</vt:lpstr>
      <vt:lpstr>Literature review</vt:lpstr>
      <vt:lpstr>pPROPOSED SYSTEM</vt:lpstr>
      <vt:lpstr>Methodology</vt:lpstr>
      <vt:lpstr>System Architecture:</vt:lpstr>
      <vt:lpstr>Use case diagrams</vt:lpstr>
      <vt:lpstr>PowerPoint Presentation</vt:lpstr>
      <vt:lpstr>System Requirements:</vt:lpstr>
      <vt:lpstr>Advantages</vt:lpstr>
      <vt:lpstr>Disadvantages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College</dc:title>
  <dc:creator>MIRYALA PRANATHI</dc:creator>
  <cp:lastModifiedBy>pranathieng@gmail.com</cp:lastModifiedBy>
  <cp:revision>46</cp:revision>
  <dcterms:created xsi:type="dcterms:W3CDTF">2021-10-08T02:09:58Z</dcterms:created>
  <dcterms:modified xsi:type="dcterms:W3CDTF">2025-11-03T07:34:11Z</dcterms:modified>
</cp:coreProperties>
</file>